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97" r:id="rId3"/>
    <p:sldId id="258" r:id="rId4"/>
    <p:sldId id="259" r:id="rId5"/>
    <p:sldId id="263" r:id="rId6"/>
    <p:sldId id="257" r:id="rId7"/>
    <p:sldId id="268" r:id="rId8"/>
    <p:sldId id="284" r:id="rId9"/>
    <p:sldId id="296" r:id="rId10"/>
    <p:sldId id="314" r:id="rId11"/>
    <p:sldId id="315" r:id="rId12"/>
    <p:sldId id="316" r:id="rId13"/>
    <p:sldId id="317" r:id="rId14"/>
    <p:sldId id="318" r:id="rId15"/>
    <p:sldId id="319" r:id="rId16"/>
    <p:sldId id="286" r:id="rId17"/>
    <p:sldId id="285" r:id="rId18"/>
    <p:sldId id="293" r:id="rId19"/>
    <p:sldId id="264" r:id="rId20"/>
    <p:sldId id="278" r:id="rId21"/>
    <p:sldId id="265" r:id="rId22"/>
    <p:sldId id="266" r:id="rId23"/>
    <p:sldId id="260" r:id="rId24"/>
    <p:sldId id="261" r:id="rId25"/>
    <p:sldId id="267" r:id="rId26"/>
    <p:sldId id="302" r:id="rId27"/>
    <p:sldId id="269" r:id="rId28"/>
    <p:sldId id="320" r:id="rId29"/>
    <p:sldId id="270" r:id="rId30"/>
    <p:sldId id="304" r:id="rId31"/>
    <p:sldId id="262" r:id="rId32"/>
    <p:sldId id="271" r:id="rId33"/>
    <p:sldId id="272" r:id="rId34"/>
    <p:sldId id="273" r:id="rId35"/>
    <p:sldId id="274" r:id="rId36"/>
    <p:sldId id="279" r:id="rId37"/>
    <p:sldId id="313" r:id="rId38"/>
    <p:sldId id="280" r:id="rId39"/>
    <p:sldId id="311" r:id="rId40"/>
    <p:sldId id="312" r:id="rId41"/>
    <p:sldId id="283" r:id="rId42"/>
    <p:sldId id="282" r:id="rId43"/>
    <p:sldId id="305" r:id="rId44"/>
    <p:sldId id="307" r:id="rId45"/>
    <p:sldId id="308" r:id="rId46"/>
    <p:sldId id="281" r:id="rId47"/>
    <p:sldId id="306" r:id="rId48"/>
    <p:sldId id="309" r:id="rId49"/>
    <p:sldId id="310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78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907EE-23A7-4CE4-92BD-E3D315C3A1DB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C42F3-97E0-4B56-9977-397A5F3D6D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78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C42F3-97E0-4B56-9977-397A5F3D6D1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34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9B7132A-8CAF-3D5A-D62C-B784D4156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F6D19FF9-3F33-623C-1AC3-A080B39FC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596E24D-48E3-43CA-A954-EB2D2FFB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F8AA93-2406-37CD-CE6C-334BA7B3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DFC421D-5481-564C-C656-59FD2B84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81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34A2709-6D2D-1FB2-ED6C-8949ABB9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F36F955-822E-E4F2-6716-73FD4C98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F47EE76-5D78-45E0-85B7-8F0053AB5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51B26C2-BC9D-A7EB-2434-6F8991E8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3D13B7C-2C0D-6E58-D33B-1639EB06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84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A511173-A11F-C189-EC6B-6FA7D742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3FC426C-68F1-A1E3-8F6B-B46F725A1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4F5FC2D-BA97-B8DC-2F93-4EAC4BF7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F107CE0-3D83-4183-3EC5-E3110A14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E75B661-420A-604C-7726-64F30BD9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47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5F71E10-CF3D-39D8-FF88-3AC0704B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56434BE-E53B-2BD7-BBFC-965CCF939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FF22FB2-4063-65CE-E74D-F4A94BCA9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6AAB4CBD-A53F-4984-BD17-6E9CD9FE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49942DC-22E2-998F-94E3-1AA1E3EBA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CD77675-B6B3-C2C6-07D5-0A8F2D1C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67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01BF007-E575-E5D5-BFDF-DD7C7DA53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5B8951C3-BBDF-5EAA-F479-59BC898AB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365F53DC-1F11-C954-BA6F-3A3946B87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08B98E2D-5507-B4B9-E316-96C9D1D28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6B4212CF-A638-8846-D0BA-8E6585951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4CE6473F-202A-C124-3F49-E2B7413C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794BC97A-29B1-3E8F-48CC-53ADE14B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656D3461-7794-117D-4EF0-C833D67D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2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B8DD253-2C56-2204-37FE-39688D6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E7550D7-3B62-31AB-AEB2-0F724623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979FCB35-0678-E5F9-6632-351C2786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47F929D1-7894-D435-94BB-50AE65A4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51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082EDB40-7630-A5E0-A1AF-E74A6EBD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3C41385F-86E8-C287-DF27-8731343F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89583A3E-A84D-D8EB-7762-ED1E748F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3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8DBA093-FD9E-1877-68F7-9A9540C4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94732D9-DD60-472D-C691-BADEF8F1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DCDDD63-9146-DB06-9107-FBD85934B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2AE53E55-AAF3-722B-3B2B-87BA38BD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1374244-D7E3-6E44-1BDF-C0E827B8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C218AB37-5CA8-9C3F-BE28-CA98325F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4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50232D3-70EA-74DA-D739-61EAA16E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7DD5DE03-38BB-81A2-6280-96193B118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BFB1050-E1DF-97C0-CCB6-0793BA2C4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69D4E72-C655-8B84-C968-581498DD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FCDC6A13-0B5A-EB56-CB3F-EAE6CAED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32F77E6-137C-C95D-64E9-BEA35821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66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D9E68D6-536C-D50F-2BE2-E05AD76D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60C40F65-2BF4-9C0B-907A-2303A6E7D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B1CB70B-91B1-1FF5-3847-B0A8E63E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E53EAF94-49E1-F8FC-86FF-5E588170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8CECDC7-E7DC-1277-89C3-6E1782CF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66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FD133437-2540-6BAB-A240-A327FB4AD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FC23A336-0714-AE7D-0169-D2D747A8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2D4898D-D4E8-D752-51EF-5BB59743D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BE3CAA4-A37D-F9DE-CD8C-FD2CEE64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68AE9BA-BEB6-F971-624A-2DD2A346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A09DB4F1-640A-DCAA-5089-0E47D1DED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7F06CF2A-4D87-3203-D908-5A1EE57B9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0E6BC8D-5701-5097-C949-B03179F41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20914-4C27-4FD1-B296-2105594CCCAE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F2703E6-36DB-7300-9B35-9DAE5A8AB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204BE15-8EF0-23DC-B657-1E3883C25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B6C05-EF8B-4F77-A317-96D5B7C6FB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98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BE4BB571-87A1-6FB4-DA28-09F0A8E6F4AC}"/>
              </a:ext>
            </a:extLst>
          </p:cNvPr>
          <p:cNvSpPr/>
          <p:nvPr/>
        </p:nvSpPr>
        <p:spPr>
          <a:xfrm>
            <a:off x="1804906" y="454843"/>
            <a:ext cx="81295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Transformation of Allenes in 2024</a:t>
            </a:r>
            <a:endParaRPr lang="zh-CN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98C07824-D76F-2837-7F36-E76E56C5E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733761"/>
              </p:ext>
            </p:extLst>
          </p:nvPr>
        </p:nvGraphicFramePr>
        <p:xfrm>
          <a:off x="4305190" y="1302381"/>
          <a:ext cx="3128963" cy="287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CS ChemDraw Drawing" r:id="rId3" imgW="2422980" imgH="2229389" progId="ChemDraw.Document.6.0">
                  <p:embed/>
                </p:oleObj>
              </mc:Choice>
              <mc:Fallback>
                <p:oleObj name="CS ChemDraw Drawing" r:id="rId3" imgW="2422980" imgH="2229389" progId="ChemDraw.Document.6.0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5190" y="1302381"/>
                        <a:ext cx="3128963" cy="287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5">
            <a:extLst>
              <a:ext uri="{FF2B5EF4-FFF2-40B4-BE49-F238E27FC236}">
                <a16:creationId xmlns:a16="http://schemas.microsoft.com/office/drawing/2014/main" xmlns="" id="{21584D27-5DDD-7328-00B9-A5436F328541}"/>
              </a:ext>
            </a:extLst>
          </p:cNvPr>
          <p:cNvSpPr txBox="1"/>
          <p:nvPr/>
        </p:nvSpPr>
        <p:spPr>
          <a:xfrm>
            <a:off x="488620" y="4827353"/>
            <a:ext cx="11214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总共</a:t>
            </a:r>
            <a:r>
              <a:rPr lang="en-US" altLang="zh-CN" dirty="0" smtClean="0"/>
              <a:t>236</a:t>
            </a:r>
            <a:r>
              <a:rPr lang="zh-CN" altLang="en-US" dirty="0" smtClean="0"/>
              <a:t>篇</a:t>
            </a:r>
            <a:r>
              <a:rPr lang="zh-CN" altLang="en-US" dirty="0"/>
              <a:t>：其中其中</a:t>
            </a:r>
            <a:r>
              <a:rPr lang="en-US" altLang="zh-CN" dirty="0"/>
              <a:t>Science 1</a:t>
            </a:r>
            <a:r>
              <a:rPr lang="zh-CN" altLang="en-US" dirty="0"/>
              <a:t>篇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Nat</a:t>
            </a:r>
            <a:r>
              <a:rPr lang="en-US" altLang="zh-CN" dirty="0"/>
              <a:t>. Chem. 1</a:t>
            </a:r>
            <a:r>
              <a:rPr lang="zh-CN" altLang="en-US" dirty="0"/>
              <a:t>篇，</a:t>
            </a:r>
            <a:r>
              <a:rPr lang="en-US" altLang="zh-CN" dirty="0"/>
              <a:t>Chem 1</a:t>
            </a:r>
            <a:r>
              <a:rPr lang="zh-CN" altLang="en-US" dirty="0"/>
              <a:t>篇，</a:t>
            </a:r>
            <a:r>
              <a:rPr lang="en-US" altLang="zh-CN" dirty="0"/>
              <a:t>JACS 15</a:t>
            </a:r>
            <a:r>
              <a:rPr lang="zh-CN" altLang="en-US" dirty="0"/>
              <a:t>篇， </a:t>
            </a:r>
            <a:r>
              <a:rPr lang="en-US" altLang="zh-CN" dirty="0" err="1"/>
              <a:t>Angew</a:t>
            </a:r>
            <a:r>
              <a:rPr lang="en-US" altLang="zh-CN" dirty="0"/>
              <a:t> 15</a:t>
            </a:r>
            <a:r>
              <a:rPr lang="zh-CN" altLang="en-US" dirty="0"/>
              <a:t>篇</a:t>
            </a:r>
            <a:r>
              <a:rPr lang="en-US" altLang="zh-CN" dirty="0"/>
              <a:t>, Nat. Commun. 6 </a:t>
            </a:r>
            <a:r>
              <a:rPr lang="zh-CN" altLang="en-US" dirty="0"/>
              <a:t>篇，</a:t>
            </a:r>
            <a:r>
              <a:rPr lang="en-US" altLang="zh-CN" dirty="0"/>
              <a:t>ACS 11</a:t>
            </a:r>
            <a:r>
              <a:rPr lang="zh-CN" altLang="en-US" dirty="0"/>
              <a:t>篇</a:t>
            </a:r>
            <a:endParaRPr lang="en-US" altLang="zh-CN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xmlns="" id="{A7F467E8-9AE5-B99F-888A-12D9373819EE}"/>
              </a:ext>
            </a:extLst>
          </p:cNvPr>
          <p:cNvSpPr txBox="1"/>
          <p:nvPr/>
        </p:nvSpPr>
        <p:spPr>
          <a:xfrm>
            <a:off x="351477" y="6079991"/>
            <a:ext cx="11489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2023</a:t>
            </a:r>
            <a:r>
              <a:rPr lang="zh-CN" altLang="en-US" dirty="0"/>
              <a:t>年：共</a:t>
            </a:r>
            <a:r>
              <a:rPr lang="en-US" altLang="zh-CN" dirty="0"/>
              <a:t>279</a:t>
            </a:r>
            <a:r>
              <a:rPr lang="zh-CN" altLang="en-US" dirty="0"/>
              <a:t>篇，其中其中</a:t>
            </a:r>
            <a:r>
              <a:rPr lang="en-US" altLang="zh-CN" dirty="0"/>
              <a:t>Science 1</a:t>
            </a:r>
            <a:r>
              <a:rPr lang="zh-CN" altLang="en-US" dirty="0"/>
              <a:t>篇， </a:t>
            </a:r>
            <a:r>
              <a:rPr lang="en-US" altLang="zh-CN" dirty="0"/>
              <a:t>Chem 1</a:t>
            </a:r>
            <a:r>
              <a:rPr lang="zh-CN" altLang="en-US" dirty="0"/>
              <a:t>篇，</a:t>
            </a:r>
            <a:r>
              <a:rPr lang="en-US" altLang="zh-CN" dirty="0"/>
              <a:t>JACS 5</a:t>
            </a:r>
            <a:r>
              <a:rPr lang="zh-CN" altLang="en-US" dirty="0"/>
              <a:t>篇， </a:t>
            </a:r>
            <a:r>
              <a:rPr lang="en-US" altLang="zh-CN" dirty="0" err="1"/>
              <a:t>Angew</a:t>
            </a:r>
            <a:r>
              <a:rPr lang="en-US" altLang="zh-CN" dirty="0"/>
              <a:t> 16</a:t>
            </a:r>
            <a:r>
              <a:rPr lang="zh-CN" altLang="en-US" dirty="0"/>
              <a:t>篇</a:t>
            </a:r>
            <a:r>
              <a:rPr lang="en-US" altLang="zh-CN" dirty="0"/>
              <a:t>, Nat. </a:t>
            </a:r>
            <a:r>
              <a:rPr lang="en-US" altLang="zh-CN" dirty="0" err="1"/>
              <a:t>Commun</a:t>
            </a:r>
            <a:r>
              <a:rPr lang="en-US" altLang="zh-CN" dirty="0"/>
              <a:t>. 1 </a:t>
            </a:r>
            <a:r>
              <a:rPr lang="zh-CN" altLang="en-US" dirty="0"/>
              <a:t>篇，</a:t>
            </a:r>
            <a:r>
              <a:rPr lang="en-US" altLang="zh-CN" dirty="0"/>
              <a:t>ACS 9</a:t>
            </a:r>
            <a:r>
              <a:rPr lang="zh-CN" altLang="en-US" dirty="0"/>
              <a:t>篇</a:t>
            </a:r>
            <a:endParaRPr lang="en-US" altLang="zh-CN" dirty="0"/>
          </a:p>
          <a:p>
            <a:pPr algn="ctr"/>
            <a:r>
              <a:rPr lang="zh-CN" altLang="en-US" dirty="0"/>
              <a:t>直接相关的</a:t>
            </a:r>
            <a:r>
              <a:rPr lang="en-US" altLang="zh-CN" dirty="0"/>
              <a:t>Review 1</a:t>
            </a:r>
            <a:r>
              <a:rPr lang="zh-CN" altLang="en-US" dirty="0"/>
              <a:t>篇</a:t>
            </a:r>
          </a:p>
        </p:txBody>
      </p:sp>
    </p:spTree>
    <p:extLst>
      <p:ext uri="{BB962C8B-B14F-4D97-AF65-F5344CB8AC3E}">
        <p14:creationId xmlns:p14="http://schemas.microsoft.com/office/powerpoint/2010/main" val="372562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5265DC1-8A2B-3ABA-47F4-D8ED8C85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926" y="710855"/>
            <a:ext cx="3438525" cy="1143000"/>
          </a:xfrm>
          <a:prstGeom prst="rect">
            <a:avLst/>
          </a:prstGeom>
        </p:spPr>
      </p:pic>
      <p:sp>
        <p:nvSpPr>
          <p:cNvPr id="3" name="文本框 4"/>
          <p:cNvSpPr txBox="1"/>
          <p:nvPr/>
        </p:nvSpPr>
        <p:spPr>
          <a:xfrm>
            <a:off x="3285764" y="11709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搜索：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759" y="34152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Scifinder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003" y="1853855"/>
            <a:ext cx="7911888" cy="4401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950003" y="5761822"/>
            <a:ext cx="8163481" cy="493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2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52A8B2-FCF4-559E-F9E8-E33D0D72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6A1EA086-F814-DDB0-73AB-694CC7E01A33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文本框 4">
            <a:extLst>
              <a:ext uri="{FF2B5EF4-FFF2-40B4-BE49-F238E27FC236}">
                <a16:creationId xmlns:a16="http://schemas.microsoft.com/office/drawing/2014/main" xmlns="" id="{B38AEEA8-FADF-8392-3191-A16B2C1BD5D0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84000895-CDB5-42B9-4079-9F8842488566}"/>
              </a:ext>
            </a:extLst>
          </p:cNvPr>
          <p:cNvSpPr txBox="1"/>
          <p:nvPr/>
        </p:nvSpPr>
        <p:spPr>
          <a:xfrm>
            <a:off x="10381055" y="140929"/>
            <a:ext cx="1810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With Metals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994A3349-EA41-131A-3F87-D228567E1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142"/>
            <a:ext cx="6657975" cy="13239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E7164638-4813-E377-5779-BCA3DFB62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9117"/>
            <a:ext cx="6486525" cy="4686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4A14AD6B-C3CF-1173-00DC-997B91158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75" y="2159117"/>
            <a:ext cx="5150951" cy="290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7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4FA8F0-0870-D734-AE1F-BBAF6F41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5814C77E-7879-1D51-CE18-1360B8F1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8" y="1392721"/>
            <a:ext cx="5423865" cy="542386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956D2D9A-FF4E-C6FC-9B1B-81A0B9DF4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7" y="81361"/>
            <a:ext cx="5543476" cy="13113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787DA41B-00C9-722B-5ABE-377B69AE8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956" y="2166908"/>
            <a:ext cx="5841709" cy="44396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E230D132-EE6E-B45D-55FB-F785CD54F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58017"/>
            <a:ext cx="5854824" cy="130889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BADF802C-723D-00D3-DABC-FCE52807C9E3}"/>
              </a:ext>
            </a:extLst>
          </p:cNvPr>
          <p:cNvSpPr txBox="1"/>
          <p:nvPr/>
        </p:nvSpPr>
        <p:spPr>
          <a:xfrm>
            <a:off x="3719620" y="85801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中国农业大学</a:t>
            </a:r>
          </a:p>
        </p:txBody>
      </p:sp>
    </p:spTree>
    <p:extLst>
      <p:ext uri="{BB962C8B-B14F-4D97-AF65-F5344CB8AC3E}">
        <p14:creationId xmlns:p14="http://schemas.microsoft.com/office/powerpoint/2010/main" val="2998393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27068F-2147-8484-85F5-31CC0521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736BCF9-F693-83D6-BFA6-709A165B5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63"/>
            <a:ext cx="5904079" cy="11167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EB30ED57-5FB3-7730-9AF7-2119E1944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63" y="1282454"/>
            <a:ext cx="4811094" cy="56303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178370B-953A-EF76-8E26-63744BED4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138" y="1801485"/>
            <a:ext cx="6714611" cy="11126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5A1CDD09-EB0E-397F-1413-0BD33813A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9857" y="3512886"/>
            <a:ext cx="6992143" cy="96687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A6AC5C34-4A09-5BF7-C342-E2155EC9E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935" y="4712595"/>
            <a:ext cx="5647015" cy="181570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755591F6-04B7-3929-E484-D81D3FDCA8A6}"/>
              </a:ext>
            </a:extLst>
          </p:cNvPr>
          <p:cNvSpPr txBox="1"/>
          <p:nvPr/>
        </p:nvSpPr>
        <p:spPr>
          <a:xfrm>
            <a:off x="3663292" y="718667"/>
            <a:ext cx="2240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四川大学华西药学院</a:t>
            </a:r>
          </a:p>
        </p:txBody>
      </p:sp>
    </p:spTree>
    <p:extLst>
      <p:ext uri="{BB962C8B-B14F-4D97-AF65-F5344CB8AC3E}">
        <p14:creationId xmlns:p14="http://schemas.microsoft.com/office/powerpoint/2010/main" val="326719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568472-634D-00D1-1120-297E4AAA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7B4D1DB-B25F-792B-4FAC-60E032991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5" y="182880"/>
            <a:ext cx="7248525" cy="1419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DF61C98E-4F84-FE08-89A9-C1830E8B6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16" y="58369"/>
            <a:ext cx="4286983" cy="67996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F06B716-5AF2-7CE7-DFDE-038B1B03A9A7}"/>
              </a:ext>
            </a:extLst>
          </p:cNvPr>
          <p:cNvSpPr txBox="1"/>
          <p:nvPr/>
        </p:nvSpPr>
        <p:spPr>
          <a:xfrm>
            <a:off x="9537895" y="102694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南开大学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DEF77B1D-5029-9590-AF9F-20E60CA82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745" y="2562665"/>
            <a:ext cx="7587391" cy="39717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3F934868-D6B6-2B13-A7EF-E116B71D0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520" y="1718603"/>
            <a:ext cx="5908434" cy="8440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9CCE7267-0485-5BFC-EBFB-D918F8A98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936" y="6210300"/>
            <a:ext cx="35052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2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B50FAD-16DA-0AC8-E091-A8CFC06F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6A41867-3612-1E5E-8212-09AB9270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5075" cy="14668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743E8DD6-EBD6-4ECE-9AF6-DA8C4087C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3557"/>
            <a:ext cx="6544173" cy="43571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FF1C6AD9-5D42-A0E8-759C-7EE5E0421FE2}"/>
              </a:ext>
            </a:extLst>
          </p:cNvPr>
          <p:cNvSpPr txBox="1"/>
          <p:nvPr/>
        </p:nvSpPr>
        <p:spPr>
          <a:xfrm>
            <a:off x="4304714" y="7334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云南大学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3CA3A76E-94F9-A44D-72B9-9C9549CA7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507" y="2332889"/>
            <a:ext cx="5934075" cy="209391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DF5B4B3A-4EC2-FD7A-4D44-61D5DE8A23A3}"/>
              </a:ext>
            </a:extLst>
          </p:cNvPr>
          <p:cNvSpPr txBox="1"/>
          <p:nvPr/>
        </p:nvSpPr>
        <p:spPr>
          <a:xfrm>
            <a:off x="6240507" y="18006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挑战：</a:t>
            </a:r>
          </a:p>
        </p:txBody>
      </p:sp>
    </p:spTree>
    <p:extLst>
      <p:ext uri="{BB962C8B-B14F-4D97-AF65-F5344CB8AC3E}">
        <p14:creationId xmlns:p14="http://schemas.microsoft.com/office/powerpoint/2010/main" val="274236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A439132-BF08-2BDC-4B97-C514DF7D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8" y="0"/>
            <a:ext cx="4845585" cy="849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6" y="902849"/>
            <a:ext cx="359092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7" y="1311122"/>
            <a:ext cx="6208918" cy="5216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625" y="1558771"/>
            <a:ext cx="4410075" cy="477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134" y="85414"/>
            <a:ext cx="7021647" cy="78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576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94C4E9-E674-A892-1868-2F5AFE9E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18" y="1273673"/>
            <a:ext cx="4577901" cy="5584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18" y="0"/>
            <a:ext cx="7667296" cy="141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605" y="2580836"/>
            <a:ext cx="6103274" cy="191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668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EFCB6A-27E5-D5D4-4B10-26137E5B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8EC5994-8FE1-EF70-C169-DFAAA1CB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142"/>
            <a:ext cx="6477000" cy="98107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FC8B6EC1-3DE5-D2CB-5CC4-CF54CFD45B69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11F2FF97-4215-7A1A-87E3-E7C0B3979E7A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ABDB3F9-8BFD-2388-E9E6-5E5773157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999" y="835142"/>
            <a:ext cx="3958003" cy="59370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B26ADD26-9D68-CB84-5E8D-E16229B76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04" y="2147447"/>
            <a:ext cx="5690882" cy="20165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C8118A2E-909D-AAB1-AE7B-BC08BCDE5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47" y="4285224"/>
            <a:ext cx="4933273" cy="23162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070E38D5-C55C-5DCB-D378-795A7896161D}"/>
              </a:ext>
            </a:extLst>
          </p:cNvPr>
          <p:cNvSpPr txBox="1"/>
          <p:nvPr/>
        </p:nvSpPr>
        <p:spPr>
          <a:xfrm>
            <a:off x="4823884" y="13228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苏州大学</a:t>
            </a:r>
          </a:p>
        </p:txBody>
      </p:sp>
    </p:spTree>
    <p:extLst>
      <p:ext uri="{BB962C8B-B14F-4D97-AF65-F5344CB8AC3E}">
        <p14:creationId xmlns:p14="http://schemas.microsoft.com/office/powerpoint/2010/main" val="238846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B67C3F-FC73-405D-AE0D-AD3CF0AC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945E6691-844E-72BA-1361-A47C38A81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5550" cy="1200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86343078-B424-B7B5-9595-1816BB9E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0" y="1163398"/>
            <a:ext cx="4499170" cy="56946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BFC0C490-AA23-5BA3-3892-DA4E9ACBF73E}"/>
              </a:ext>
            </a:extLst>
          </p:cNvPr>
          <p:cNvSpPr txBox="1"/>
          <p:nvPr/>
        </p:nvSpPr>
        <p:spPr>
          <a:xfrm>
            <a:off x="4233041" y="9787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苏州大学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C45207C2-CBCF-2AD5-4C78-94BA8AEC7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129" y="1200150"/>
            <a:ext cx="5806814" cy="477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11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375CFE-6B72-1D35-EE67-60C496AB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C97F463-4606-16FE-F8DB-8B6FFDFE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23" y="0"/>
            <a:ext cx="6324600" cy="1524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3241DE84-EA56-2CAC-8138-C1D71B00A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1" y="0"/>
            <a:ext cx="4318782" cy="68646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0B5AF0F-CF02-7D58-28CC-66F570C1C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86" y="2362346"/>
            <a:ext cx="6040379" cy="12049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16AA2F79-3433-41CD-C369-56004F93E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723" y="4405678"/>
            <a:ext cx="6149106" cy="132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0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0C0092-25DE-B73A-D89D-F01FDB53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ACE9B387-BA57-5F0F-BED3-E8916636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7475" cy="10191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12F112E4-37BC-9517-AC90-108CE18E3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3183"/>
            <a:ext cx="5046755" cy="49435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621907E-E9AA-BE2B-AE66-5CA3538E9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985" y="326707"/>
            <a:ext cx="5496061" cy="29194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D236883B-D1EE-E294-D168-7308FDB6F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3872021"/>
            <a:ext cx="70961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68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8F3ACC-A3B1-028E-CB13-0C2FD787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22" y="121186"/>
            <a:ext cx="5365214" cy="72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04" y="1330001"/>
            <a:ext cx="4895850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734" y="1308345"/>
            <a:ext cx="4914900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65" y="125113"/>
            <a:ext cx="4370140" cy="71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153" y="655710"/>
            <a:ext cx="24003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0496793" y="29665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HIGHLIGHT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113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8D10C3-2F5C-7547-77A4-A1BDFBEC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57056" cy="870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6" y="1159814"/>
            <a:ext cx="5738562" cy="120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6" y="2366216"/>
            <a:ext cx="5578723" cy="3872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664" y="90646"/>
            <a:ext cx="4692785" cy="689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757107"/>
            <a:ext cx="3215212" cy="287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755" y="3628279"/>
            <a:ext cx="4029075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4775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D4843F-5503-06A2-7D61-E4826EFE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78F1C365-89E2-0C4C-C180-39E164D3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59" y="731521"/>
            <a:ext cx="6296025" cy="12763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485BCA47-530E-F72A-4024-A54E5000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68" y="562708"/>
            <a:ext cx="3993613" cy="6998708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1089A370-4CDC-7FBA-BC5B-75910824CA84}"/>
              </a:ext>
            </a:extLst>
          </p:cNvPr>
          <p:cNvCxnSpPr/>
          <p:nvPr/>
        </p:nvCxnSpPr>
        <p:spPr bwMode="auto">
          <a:xfrm flipV="1">
            <a:off x="0" y="561885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DECD0A47-BAB0-7179-6D11-CC7C8608541B}"/>
              </a:ext>
            </a:extLst>
          </p:cNvPr>
          <p:cNvSpPr txBox="1"/>
          <p:nvPr/>
        </p:nvSpPr>
        <p:spPr>
          <a:xfrm>
            <a:off x="0" y="-15642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0413A4E4-0A83-40A2-C8A6-F09BD0339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434" y="2099326"/>
            <a:ext cx="4362450" cy="46386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F2582DAB-2F9E-DF32-E953-4ECB4C99C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028" y="2425227"/>
            <a:ext cx="1343025" cy="16192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27BE6786-454D-FD00-8667-3E0FA4620153}"/>
              </a:ext>
            </a:extLst>
          </p:cNvPr>
          <p:cNvSpPr txBox="1"/>
          <p:nvPr/>
        </p:nvSpPr>
        <p:spPr>
          <a:xfrm>
            <a:off x="4252623" y="5279629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配体调控</a:t>
            </a:r>
          </a:p>
        </p:txBody>
      </p:sp>
    </p:spTree>
    <p:extLst>
      <p:ext uri="{BB962C8B-B14F-4D97-AF65-F5344CB8AC3E}">
        <p14:creationId xmlns:p14="http://schemas.microsoft.com/office/powerpoint/2010/main" val="25497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26C342-2B6E-E082-A83F-454886FF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BD757BF-863E-07D6-E922-86B8FBD2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4" y="106094"/>
            <a:ext cx="6305550" cy="990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46CE8C44-7228-6EA1-0670-97FF0473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95" y="1096695"/>
            <a:ext cx="4707915" cy="57021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B056C7A6-9B67-1EEC-444B-2343CDBFB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570" y="0"/>
            <a:ext cx="4309404" cy="361894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8EE4DC83-93CD-56A5-C4B8-078FEEC6A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058" y="3890284"/>
            <a:ext cx="4886397" cy="30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7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897DC9-137A-ED14-1F5B-EF136B22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47FF073-C616-7C8C-A24E-7764A09D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5" y="835142"/>
            <a:ext cx="5551254" cy="1076014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97F76B83-6D87-3510-EE1E-130A5BE880FC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F7B0FFD6-31C9-CBE5-D35A-659532FC1831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055681DE-01E9-3276-1B45-B5DEF60AC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2615"/>
            <a:ext cx="6291888" cy="40369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7D87AE68-48F8-6E52-FE45-E1DC40520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175" y="187611"/>
            <a:ext cx="6219825" cy="36385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6E6931DF-71D3-0C69-14C0-8FAB1CB11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399" y="3429000"/>
            <a:ext cx="490537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4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AE07D8-CDE2-3D30-26E9-AF6B8435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6B1DA1F5-FF46-B885-3CE8-A48F3A34C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99" y="924531"/>
            <a:ext cx="5770981" cy="1184476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98BF1D94-F611-AFAC-F724-BF7C296509E2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文本框 4">
            <a:extLst>
              <a:ext uri="{FF2B5EF4-FFF2-40B4-BE49-F238E27FC236}">
                <a16:creationId xmlns:a16="http://schemas.microsoft.com/office/drawing/2014/main" xmlns="" id="{0FB19F4E-38AB-9AC8-22B8-7A9221FF12A1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AD98453-54A7-FB48-06BD-D1EC029E1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98" y="3327010"/>
            <a:ext cx="5698002" cy="29975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8850CF55-6E9D-7F84-C19E-A5DC2D65C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268" y="2180236"/>
            <a:ext cx="1047750" cy="12001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F4E31E80-2042-C9E3-5687-A3515BE6F91A}"/>
              </a:ext>
            </a:extLst>
          </p:cNvPr>
          <p:cNvSpPr txBox="1"/>
          <p:nvPr/>
        </p:nvSpPr>
        <p:spPr>
          <a:xfrm>
            <a:off x="4823884" y="17382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郑州大学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32C8D588-8893-E1FA-AE0D-0E5AF95AB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2779" y="763683"/>
            <a:ext cx="6099221" cy="12106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F8DEBE8F-DEBD-9814-9227-2E6788EB3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271" y="2036358"/>
            <a:ext cx="5612977" cy="8590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xmlns="" id="{25DBD6CF-550E-5177-9D39-B3CDD1ABA2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271" y="3008630"/>
            <a:ext cx="4025485" cy="384937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1D0A363B-A77B-9894-A031-877FFBA929D8}"/>
              </a:ext>
            </a:extLst>
          </p:cNvPr>
          <p:cNvSpPr txBox="1"/>
          <p:nvPr/>
        </p:nvSpPr>
        <p:spPr>
          <a:xfrm>
            <a:off x="9948534" y="1553584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Yale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A955EA3A-292B-0697-3779-C0A7E2F8AD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454" y="3315432"/>
            <a:ext cx="1657238" cy="148380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xmlns="" id="{C2CCBB57-78AF-E20E-2FA0-F55B2BDB05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5780" y="4912501"/>
            <a:ext cx="1657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8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358163-35A1-523A-4659-73E59F33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70B49616-72DB-291E-B77F-57F803D60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57071" cy="8377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3D91FD35-3651-E994-9B8D-A8A70EA1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7785"/>
            <a:ext cx="6346343" cy="58725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E08BC8ED-B25D-9CB7-324A-941D5C78E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059" y="1081759"/>
            <a:ext cx="4980328" cy="4694481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B0AA0B70-1966-2D67-480D-09E39E603680}"/>
              </a:ext>
            </a:extLst>
          </p:cNvPr>
          <p:cNvSpPr/>
          <p:nvPr/>
        </p:nvSpPr>
        <p:spPr>
          <a:xfrm>
            <a:off x="6836898" y="4075466"/>
            <a:ext cx="1631853" cy="18428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0216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F52129-03EB-7945-D199-04C565D4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7EEEC722-74B9-DA8D-CA66-AB6BCD0C686C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文本框 4">
            <a:extLst>
              <a:ext uri="{FF2B5EF4-FFF2-40B4-BE49-F238E27FC236}">
                <a16:creationId xmlns:a16="http://schemas.microsoft.com/office/drawing/2014/main" xmlns="" id="{AED39677-80D5-078C-75C7-011860D01BE7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Rh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DF11EE57-BB3E-A055-F311-6E4ED664B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9111"/>
            <a:ext cx="6269572" cy="33490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3A51391-0B1B-E17A-301C-8E67A5BD5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5" y="835142"/>
            <a:ext cx="5777793" cy="10928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C7D74815-F7AB-554E-6D45-FC033037E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151" y="98096"/>
            <a:ext cx="5777793" cy="9831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3C4E4DE7-E5F2-60D3-436B-AE34D741CEC2}"/>
              </a:ext>
            </a:extLst>
          </p:cNvPr>
          <p:cNvSpPr txBox="1"/>
          <p:nvPr/>
        </p:nvSpPr>
        <p:spPr>
          <a:xfrm>
            <a:off x="4360985" y="101224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UWM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E49F8754-C337-432B-392A-D1A66D313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615" y="5837589"/>
            <a:ext cx="2465993" cy="102041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2C4BAE50-1570-7FB1-5AF9-2E7DBF672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365" y="1196909"/>
            <a:ext cx="43434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29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2B2716-719C-1FAA-3192-9D9086D5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569780BD-2B90-E316-2A18-3CCB0AFA5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397"/>
            <a:ext cx="9693520" cy="55391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EB975475-4A46-0A53-7E39-D7F74EE4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17129" cy="12942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29D567AD-AA06-C9A4-4FA0-F8607B269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520" y="1329397"/>
            <a:ext cx="2343150" cy="2133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25DC955A-5D5E-6ECB-BA08-4C06FB4B9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611" y="3890816"/>
            <a:ext cx="26193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22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D2340F-7BB0-35A0-061F-8D273430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5B623848-C23D-7DB5-0CE4-B8272960C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718457"/>
            <a:ext cx="6555545" cy="1433786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B42D994A-DD5C-BDC1-500A-FF1D2ABB86DC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1727560-81C2-ADA7-6BCC-E6FD6235701E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8B9BFD7B-2D05-BB8D-E099-A5B78EA97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972" y="2517309"/>
            <a:ext cx="3924300" cy="39433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49330775-F5BB-FCC8-DE9E-DB05510C8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480" y="4695729"/>
            <a:ext cx="3076575" cy="18859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A494B478-AFE1-CE6F-A2C3-8453FE2D3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610" y="926025"/>
            <a:ext cx="3562959" cy="356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2CCCB6-34CE-C142-0437-6F161038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252EC10-E341-2F64-30C3-CD67B0129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5" y="741263"/>
            <a:ext cx="3599206" cy="6073027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26C74B06-AA32-7B28-5A24-BB58F70B0B28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C010BE8-D67F-4FD6-50A4-5753A28407D7}"/>
              </a:ext>
            </a:extLst>
          </p:cNvPr>
          <p:cNvSpPr txBox="1"/>
          <p:nvPr/>
        </p:nvSpPr>
        <p:spPr>
          <a:xfrm>
            <a:off x="0" y="140930"/>
            <a:ext cx="5377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08539ABD-5519-7D7E-1DD3-351C7944B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358" y="835142"/>
            <a:ext cx="6943725" cy="1143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65AA956E-1065-D74A-A47D-FA8F731FA9A1}"/>
              </a:ext>
            </a:extLst>
          </p:cNvPr>
          <p:cNvSpPr txBox="1"/>
          <p:nvPr/>
        </p:nvSpPr>
        <p:spPr>
          <a:xfrm>
            <a:off x="8947052" y="10373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中科大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3220900B-7AB7-C5D7-3C1E-2FD7F2C3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167" y="1978142"/>
            <a:ext cx="5365873" cy="44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31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D8DADA-A940-A658-6046-ECC0C8A9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BC82635C-4845-0ECE-17A3-286B811B7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8449"/>
            <a:ext cx="6155655" cy="12323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E42D33F3-2DA7-7A0D-0CFB-F48A3E99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2866"/>
            <a:ext cx="8866770" cy="47242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7942DF0-67DB-DF04-BE1C-955BA8B88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45" y="1800225"/>
            <a:ext cx="2752725" cy="16287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21D592A6-AFF7-76C0-71C8-F83332D44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083" y="3429000"/>
            <a:ext cx="2381250" cy="1562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0C571D71-A33C-6AF8-F732-ED20E18F4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458" y="5024059"/>
            <a:ext cx="2552700" cy="15430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398CF707-A616-01BE-8067-6257872E7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49" y="369283"/>
            <a:ext cx="61912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4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A69C698-3A64-B63A-1328-0DF3D0C1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950611" cy="102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347"/>
            <a:ext cx="31242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4" y="4887531"/>
            <a:ext cx="4925217" cy="154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70" y="1112703"/>
            <a:ext cx="4950611" cy="34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266" y="1396043"/>
            <a:ext cx="6685134" cy="217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796" y="799296"/>
            <a:ext cx="2088565" cy="999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396" y="3950303"/>
            <a:ext cx="6773604" cy="130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02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74257B3-0D40-1A15-6B30-1B5EA142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7C6D4D0E-F2F8-62A1-E1FE-A745B0AEC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8" y="2265851"/>
            <a:ext cx="6905625" cy="429577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E1119379-4666-17BE-C9B6-02AEC2A39AD9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9042FE9D-A295-4ECE-0763-700E156FCCE3}"/>
              </a:ext>
            </a:extLst>
          </p:cNvPr>
          <p:cNvSpPr txBox="1"/>
          <p:nvPr/>
        </p:nvSpPr>
        <p:spPr>
          <a:xfrm>
            <a:off x="0" y="140930"/>
            <a:ext cx="6609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Other metal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-catalyzed Transformation of 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33C43CBF-FA06-7A98-FA0E-2AE5E69D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661"/>
            <a:ext cx="7115102" cy="13272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BD5107BD-9256-0161-E00E-A12E2CDF96A2}"/>
              </a:ext>
            </a:extLst>
          </p:cNvPr>
          <p:cNvSpPr txBox="1"/>
          <p:nvPr/>
        </p:nvSpPr>
        <p:spPr>
          <a:xfrm>
            <a:off x="4656406" y="105495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南科大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EE0D00ED-3C14-95C4-3A2A-1E67949729B5}"/>
              </a:ext>
            </a:extLst>
          </p:cNvPr>
          <p:cNvGrpSpPr/>
          <p:nvPr/>
        </p:nvGrpSpPr>
        <p:grpSpPr>
          <a:xfrm>
            <a:off x="7554350" y="1054957"/>
            <a:ext cx="4217158" cy="5392302"/>
            <a:chOff x="7554350" y="1054957"/>
            <a:chExt cx="4217158" cy="539230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xmlns="" id="{471E865D-BF12-CDDB-522C-E0455365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54350" y="1542860"/>
              <a:ext cx="4217158" cy="4904399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696C8321-21B7-5D3D-A831-3FA21B01A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54350" y="1054957"/>
              <a:ext cx="4217158" cy="1145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145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85378" cy="1013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410" y="727115"/>
            <a:ext cx="5676128" cy="1199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298" y="2099348"/>
            <a:ext cx="8564351" cy="4339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0271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6B99ACC-536A-8999-345E-63584405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16FD16D7-AB46-7028-999D-D3022770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1667"/>
            <a:ext cx="6766560" cy="12988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827395EF-13A4-2278-E61F-67CE97E96F58}"/>
              </a:ext>
            </a:extLst>
          </p:cNvPr>
          <p:cNvSpPr txBox="1"/>
          <p:nvPr/>
        </p:nvSpPr>
        <p:spPr>
          <a:xfrm>
            <a:off x="7216726" y="371969"/>
            <a:ext cx="4656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catalytic asymmetric </a:t>
            </a:r>
            <a:r>
              <a:rPr lang="en-US" altLang="zh-CN" dirty="0" err="1"/>
              <a:t>dearomatization</a:t>
            </a:r>
            <a:r>
              <a:rPr lang="en-US" altLang="zh-CN" dirty="0"/>
              <a:t> (CADA)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2799785-5E4B-CDB1-3721-A4A30C929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" y="1826108"/>
            <a:ext cx="7276147" cy="46599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8D15A25D-C311-FC60-5714-BBECE1A03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748" y="2821524"/>
            <a:ext cx="13430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26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24416E-ED28-3887-F388-656365B2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11827" cy="1411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13" y="1926247"/>
            <a:ext cx="4800600" cy="401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190" y="2112623"/>
            <a:ext cx="5891682" cy="3637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4397"/>
            <a:ext cx="494347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3775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68BA13-8660-3E11-5205-84224384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E920D22-09CC-1731-FE11-6D02D738A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743"/>
            <a:ext cx="5246490" cy="987117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ED64F0DF-32A7-5A79-B3BB-1AB473A46D56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6892EAB9-F642-FBB0-5966-6E1C8A4B1C27}"/>
              </a:ext>
            </a:extLst>
          </p:cNvPr>
          <p:cNvSpPr txBox="1"/>
          <p:nvPr/>
        </p:nvSpPr>
        <p:spPr>
          <a:xfrm>
            <a:off x="0" y="140930"/>
            <a:ext cx="651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Organo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-catalyzed Transformation of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F1F814E-5D6B-2FFC-554F-9BA467630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512" y="835142"/>
            <a:ext cx="4466492" cy="58085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540E9E87-2157-F819-B889-1FE540E71A8C}"/>
              </a:ext>
            </a:extLst>
          </p:cNvPr>
          <p:cNvSpPr txBox="1"/>
          <p:nvPr/>
        </p:nvSpPr>
        <p:spPr>
          <a:xfrm>
            <a:off x="6514540" y="1439979"/>
            <a:ext cx="23915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The Lu cycloaddition reaction</a:t>
            </a:r>
            <a:endParaRPr lang="zh-CN" alt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88850703-2E1B-995E-C819-D78D631B5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86" y="2937698"/>
            <a:ext cx="6348426" cy="295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7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2FE467-F777-D3DA-FBA0-9AAADE9C9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92A9CA05-BCDC-24BE-2349-A27F31B4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5" y="939751"/>
            <a:ext cx="6467475" cy="11239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0B385484-965E-AB08-092E-BFDF111ECB4E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812C2CB1-FDFB-4EA9-45EE-F67CB3114ABD}"/>
              </a:ext>
            </a:extLst>
          </p:cNvPr>
          <p:cNvSpPr txBox="1"/>
          <p:nvPr/>
        </p:nvSpPr>
        <p:spPr>
          <a:xfrm>
            <a:off x="0" y="140930"/>
            <a:ext cx="651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Organo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-catalyzed Transformation of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Allenes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81C51AC1-C60B-DC35-5CB3-1C70BC99F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84" y="2644110"/>
            <a:ext cx="7000933" cy="40040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1EF71597-A40B-CE17-DEEC-C571D7389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282" y="3790950"/>
            <a:ext cx="3850702" cy="30670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23374F89-BB63-55B9-0571-4783F0AC5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721" y="878011"/>
            <a:ext cx="4367561" cy="28849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C50FF97A-26B3-4825-17B2-A66D758726FC}"/>
              </a:ext>
            </a:extLst>
          </p:cNvPr>
          <p:cNvSpPr txBox="1"/>
          <p:nvPr/>
        </p:nvSpPr>
        <p:spPr>
          <a:xfrm>
            <a:off x="4825218" y="16943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南昌大学</a:t>
            </a:r>
          </a:p>
        </p:txBody>
      </p:sp>
    </p:spTree>
    <p:extLst>
      <p:ext uri="{BB962C8B-B14F-4D97-AF65-F5344CB8AC3E}">
        <p14:creationId xmlns:p14="http://schemas.microsoft.com/office/powerpoint/2010/main" val="1012226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D026F-FE7E-3FC3-7E93-DF1B4F65D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CF552B1-E199-72B7-A428-2336D8C3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51" y="4246683"/>
            <a:ext cx="5312293" cy="26113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328DFDE-C9F8-2E10-E715-DFFD532E3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17"/>
            <a:ext cx="6741401" cy="13399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0DE9CD85-2E58-C4A5-AD06-CD8F6C68E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58" y="2635934"/>
            <a:ext cx="5360601" cy="42220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AF5CDDF5-5A06-B696-C338-4EE30307A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89" y="1364566"/>
            <a:ext cx="4854819" cy="27904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02FBEDD9-3C06-77BA-1BD9-17CBF8E3E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975" y="158555"/>
            <a:ext cx="4439366" cy="241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68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CB40FC-2D23-20E0-8AF1-2671D6D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55DC75C-F041-FB7F-55E8-890AD9F01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6447"/>
            <a:ext cx="5924550" cy="12096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6BBFB356-9A54-3A97-C7D0-36CBC78A7C00}"/>
              </a:ext>
            </a:extLst>
          </p:cNvPr>
          <p:cNvSpPr txBox="1"/>
          <p:nvPr/>
        </p:nvSpPr>
        <p:spPr>
          <a:xfrm>
            <a:off x="4360985" y="7315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台州大学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8193558C-6F63-0C8F-A8E6-8B6E5BB754CC}"/>
              </a:ext>
            </a:extLst>
          </p:cNvPr>
          <p:cNvSpPr txBox="1"/>
          <p:nvPr/>
        </p:nvSpPr>
        <p:spPr>
          <a:xfrm>
            <a:off x="1698674" y="104921"/>
            <a:ext cx="10726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2009  O’Brien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DAEB9158-5532-FFC7-4C5B-8889E5CEB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272392"/>
            <a:ext cx="5924550" cy="33171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1B4270E0-028B-F44D-C32B-0C8025356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8" y="4505094"/>
            <a:ext cx="5884612" cy="231551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440434B3-EC4D-877D-C28D-9AC38AACB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534" y="1479203"/>
            <a:ext cx="5183651" cy="522614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A019EE1B-EFBF-C6CB-A4D7-6B941D90A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534" y="152657"/>
            <a:ext cx="5479157" cy="10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21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3DFBF4-4E4B-F455-7530-5E0149A6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BF4EBBF7-6BB7-3C43-0AC7-3DDCC0C8F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0" y="1342860"/>
            <a:ext cx="4037428" cy="54422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EDD972F-EB86-BB0A-1D9B-CBFB74B7B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5"/>
            <a:ext cx="6924675" cy="13430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C35AD492-A05D-A2A1-5912-C8C313732EFA}"/>
              </a:ext>
            </a:extLst>
          </p:cNvPr>
          <p:cNvSpPr txBox="1"/>
          <p:nvPr/>
        </p:nvSpPr>
        <p:spPr>
          <a:xfrm>
            <a:off x="9467557" y="-165"/>
            <a:ext cx="3046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Isochalcogenoureas</a:t>
            </a:r>
            <a:r>
              <a:rPr lang="en-US" altLang="zh-CN" dirty="0"/>
              <a:t> </a:t>
            </a:r>
            <a:r>
              <a:rPr lang="en-US" altLang="zh-CN" dirty="0" err="1"/>
              <a:t>IChU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784CD27E-E763-3009-20CC-B72BD5AD2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2860"/>
            <a:ext cx="5615223" cy="11891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821D11AA-483C-7981-6F64-851950D39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81307"/>
            <a:ext cx="5319928" cy="33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7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D2A6AB-74D5-9CEB-0C15-703C60C9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002"/>
            <a:ext cx="5612128" cy="169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2344"/>
            <a:ext cx="30384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970611"/>
            <a:ext cx="5503977" cy="4449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403712" y="-1331913"/>
            <a:ext cx="1062408" cy="554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80433" y="8673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配体调控</a:t>
            </a:r>
            <a:endParaRPr lang="zh-CN" altLang="en-US" dirty="0"/>
          </a:p>
        </p:txBody>
      </p: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292" y="2456201"/>
            <a:ext cx="6405708" cy="327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7482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D2A6AB-74D5-9CEB-0C15-703C60C9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43135" cy="1002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3501"/>
            <a:ext cx="515302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" y="4495800"/>
            <a:ext cx="48577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087" y="47371"/>
            <a:ext cx="4937278" cy="907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661" y="1002535"/>
            <a:ext cx="4649118" cy="5673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50056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C08FAA-320D-D341-222B-528CF689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4FFBC5A7-091D-A75B-78BA-B391D30D7A05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725B22B6-8530-63CE-D12E-41E2915AB6CD}"/>
              </a:ext>
            </a:extLst>
          </p:cNvPr>
          <p:cNvSpPr txBox="1"/>
          <p:nvPr/>
        </p:nvSpPr>
        <p:spPr>
          <a:xfrm>
            <a:off x="0" y="140930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Other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60594AB2-4C76-9C57-AAC6-656C0A6AD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716" y="796560"/>
            <a:ext cx="5676900" cy="1028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250BB6E-8F64-D642-0CB5-18773CDC7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78" y="879659"/>
            <a:ext cx="4308275" cy="54748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20253B24-85FE-DC9F-0318-5CA1ED152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36" y="2187538"/>
            <a:ext cx="5400260" cy="343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91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D2A6AB-74D5-9CEB-0C15-703C60C9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52" y="57839"/>
            <a:ext cx="4409470" cy="110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52" y="741802"/>
            <a:ext cx="23812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71171"/>
            <a:ext cx="6533888" cy="4439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426" y="317939"/>
            <a:ext cx="70104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184" y="2071170"/>
            <a:ext cx="5316391" cy="4164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6706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D2A6AB-74D5-9CEB-0C15-703C60C9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5166911" cy="959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79" y="1289924"/>
            <a:ext cx="3936351" cy="4043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17" y="5494721"/>
            <a:ext cx="4791075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670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79AA29-C24E-A30B-7EE9-69D5701E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8BA9A93E-CFBA-1113-674D-91DFBB66F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1" y="124484"/>
            <a:ext cx="6448425" cy="1038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1D8B223-F3A8-EE73-D008-5668D914D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452" y="542534"/>
            <a:ext cx="4438357" cy="12403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EA392BC9-95F7-9903-8F93-480B48B60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60" y="2054345"/>
            <a:ext cx="10409317" cy="4338493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xmlns="" id="{5EF95FD5-9117-0C0F-B542-C1EBB54D7E31}"/>
              </a:ext>
            </a:extLst>
          </p:cNvPr>
          <p:cNvSpPr/>
          <p:nvPr/>
        </p:nvSpPr>
        <p:spPr>
          <a:xfrm>
            <a:off x="3727938" y="3756074"/>
            <a:ext cx="1561514" cy="113948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837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FFEED2-9CE5-E084-B290-C11FB84F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867BB79E-9578-8937-524A-FC16D25FF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6" y="0"/>
            <a:ext cx="6583680" cy="12549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57FF01D8-1740-19D5-79C7-ACF6F87FB572}"/>
              </a:ext>
            </a:extLst>
          </p:cNvPr>
          <p:cNvSpPr txBox="1"/>
          <p:nvPr/>
        </p:nvSpPr>
        <p:spPr>
          <a:xfrm>
            <a:off x="4853354" y="7737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西湖大学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7A80DFA6-2532-23A4-AFD6-688AD87A2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382" y="1424407"/>
            <a:ext cx="5528106" cy="46364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B4F98B0A-0118-48A4-7F56-DBCE270AD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12" y="1424407"/>
            <a:ext cx="6008778" cy="4659869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xmlns="" id="{3392C048-3A62-F210-07BC-7B60480BC7A2}"/>
              </a:ext>
            </a:extLst>
          </p:cNvPr>
          <p:cNvSpPr/>
          <p:nvPr/>
        </p:nvSpPr>
        <p:spPr>
          <a:xfrm>
            <a:off x="9369083" y="1547446"/>
            <a:ext cx="1322363" cy="129422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4688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3ED8C7-F990-FA6E-DDD0-4632D13D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3D837553-360F-BFC1-3388-D03CF152E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5" y="126610"/>
            <a:ext cx="9277350" cy="11620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5D804E2B-60A8-7033-C97E-4CD3656D7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93" y="921936"/>
            <a:ext cx="7067626" cy="59254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F51DC85A-B461-0286-E63F-431E92591F82}"/>
              </a:ext>
            </a:extLst>
          </p:cNvPr>
          <p:cNvSpPr txBox="1"/>
          <p:nvPr/>
        </p:nvSpPr>
        <p:spPr>
          <a:xfrm>
            <a:off x="8778241" y="2716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362CF4FB-1A4F-3C17-3026-8A974B589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5" y="1996258"/>
            <a:ext cx="5699154" cy="12922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EF1DAE7B-5B1F-2575-465A-687294829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09" y="3839420"/>
            <a:ext cx="5974791" cy="231317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E803F2C6-6404-E112-8674-1847F4AD7F4E}"/>
              </a:ext>
            </a:extLst>
          </p:cNvPr>
          <p:cNvSpPr/>
          <p:nvPr/>
        </p:nvSpPr>
        <p:spPr>
          <a:xfrm>
            <a:off x="26155" y="3429000"/>
            <a:ext cx="1633833" cy="875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664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3677"/>
            <a:ext cx="4859358" cy="233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87" y="1140934"/>
            <a:ext cx="22002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41" y="3461707"/>
            <a:ext cx="4914900" cy="328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770" y="842332"/>
            <a:ext cx="5095875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41" y="1759367"/>
            <a:ext cx="456247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158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E729C9-BDC0-A017-EABF-1130F894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98327" cy="165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8342"/>
            <a:ext cx="30575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150823" y="785175"/>
            <a:ext cx="3826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芬内酯的支架非常独特，因为它包含四个</a:t>
            </a:r>
            <a:r>
              <a:rPr lang="zh-CN" altLang="en-US" dirty="0" smtClean="0"/>
              <a:t>缩合环和</a:t>
            </a:r>
            <a:r>
              <a:rPr lang="zh-CN" altLang="en-US" dirty="0"/>
              <a:t>一个扭曲</a:t>
            </a:r>
            <a:r>
              <a:rPr lang="zh-CN" altLang="en-US" dirty="0" smtClean="0"/>
              <a:t>的碳</a:t>
            </a:r>
            <a:r>
              <a:rPr lang="zh-CN" altLang="en-US" dirty="0"/>
              <a:t>原子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949" y="9409"/>
            <a:ext cx="4848225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730" y="2157527"/>
            <a:ext cx="47244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830" y="4199492"/>
            <a:ext cx="388620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396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DD5009-92B9-BA76-3E6C-4C549833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xmlns="" id="{E1E4E747-88BA-EC17-4D6F-97B31A7E48AD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462BB99B-F589-D470-629A-56CF1500994A}"/>
              </a:ext>
            </a:extLst>
          </p:cNvPr>
          <p:cNvSpPr txBox="1"/>
          <p:nvPr/>
        </p:nvSpPr>
        <p:spPr>
          <a:xfrm>
            <a:off x="0" y="14093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Other-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配合物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6B13A696-3DC8-5218-1C1C-0A0A8818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8457"/>
            <a:ext cx="6353175" cy="16668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4259A2F6-E704-63CA-5D91-99DBEB1FE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" y="2505075"/>
            <a:ext cx="6067425" cy="4352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783790B6-C43A-A026-757C-65995DFC8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457" y="835142"/>
            <a:ext cx="4892261" cy="573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7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28137F-0C80-C4AE-1690-0CB593EB6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2A8068D-F5CB-CEB2-CB73-FD498F607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" y="835142"/>
            <a:ext cx="5508967" cy="1116291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2BEEE2FF-7226-7F91-A64A-B66E1CEC37C4}"/>
              </a:ext>
            </a:extLst>
          </p:cNvPr>
          <p:cNvCxnSpPr/>
          <p:nvPr/>
        </p:nvCxnSpPr>
        <p:spPr bwMode="auto">
          <a:xfrm flipV="1">
            <a:off x="0" y="718457"/>
            <a:ext cx="12192000" cy="823"/>
          </a:xfrm>
          <a:prstGeom prst="line">
            <a:avLst/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5B1F6F9C-99CC-4A66-AF3B-D75D4554CAD6}"/>
              </a:ext>
            </a:extLst>
          </p:cNvPr>
          <p:cNvSpPr txBox="1"/>
          <p:nvPr/>
        </p:nvSpPr>
        <p:spPr>
          <a:xfrm>
            <a:off x="0" y="14093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Other-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材料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F19890B0-EBAD-22C8-25E5-0A68D1502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38" y="1951433"/>
            <a:ext cx="9992773" cy="475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44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4C8B19-4321-9AE1-8CF9-C9E80195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13329" cy="1798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945"/>
            <a:ext cx="38004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3938"/>
            <a:ext cx="6301648" cy="234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929" y="3669191"/>
            <a:ext cx="496252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78" y="1323611"/>
            <a:ext cx="467677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929" y="5517041"/>
            <a:ext cx="50101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97729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C33E2A-8140-CFC0-8DEB-76D169CA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24530" cy="1262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99" y="1547870"/>
            <a:ext cx="48577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55977" y="5739788"/>
            <a:ext cx="5378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Ring opening metathesis polymerization (ROMP)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6109120"/>
            <a:ext cx="67863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Ring </a:t>
            </a:r>
            <a:r>
              <a:rPr lang="en-US" altLang="zh-CN" dirty="0"/>
              <a:t>opening </a:t>
            </a:r>
            <a:r>
              <a:rPr lang="en-US" altLang="zh-CN" dirty="0" err="1"/>
              <a:t>allene</a:t>
            </a:r>
            <a:r>
              <a:rPr lang="en-US" altLang="zh-CN" dirty="0"/>
              <a:t> metathesis polymerization (</a:t>
            </a:r>
            <a:r>
              <a:rPr lang="en-US" altLang="zh-CN" dirty="0" err="1"/>
              <a:t>ROAlMP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188" y="2086893"/>
            <a:ext cx="484822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076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223</Words>
  <Application>Microsoft Office PowerPoint</Application>
  <PresentationFormat>自定义</PresentationFormat>
  <Paragraphs>48</Paragraphs>
  <Slides>49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1" baseType="lpstr">
      <vt:lpstr>Office 主题​​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黄鑫</dc:creator>
  <cp:lastModifiedBy>Administrator</cp:lastModifiedBy>
  <cp:revision>129</cp:revision>
  <dcterms:created xsi:type="dcterms:W3CDTF">2025-02-03T02:51:22Z</dcterms:created>
  <dcterms:modified xsi:type="dcterms:W3CDTF">2025-02-07T09:42:56Z</dcterms:modified>
</cp:coreProperties>
</file>